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A1F2C"/>
                </a:solidFill>
                <a:latin typeface="Apple SD Gothic Neo"/>
              </a:rPr>
              <a:t>카카오페이 가맹점 심사 제출자료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555555"/>
                </a:solidFill>
                <a:latin typeface="Apple SD Gothic Neo"/>
              </a:rPr>
              <a:t>천지인 사주 · 강림 (사업자등록번호 740-13-02692)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D4AF37"/>
                </a:solidFill>
                <a:latin typeface="Menlo"/>
              </a:rPr>
              <a:t>https://saju-mbti-9h1.pages.dev/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1. 가맹점 홈페이지 메인화면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메인 화면 캡쳐 · URL 노출 · 체크박스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300">
                <a:solidFill>
                  <a:srgbClr val="222222"/>
                </a:solidFill>
                <a:latin typeface="Menlo"/>
              </a:rPr>
              <a:t>🔒  https://saju-mbti-9h1.pages.dev/</a:t>
            </a:r>
          </a:p>
        </p:txBody>
      </p:sp>
      <p:pic>
        <p:nvPicPr>
          <p:cNvPr id="4" name="Picture 3" descr="01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572" y="1874519"/>
            <a:ext cx="7607808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263640"/>
            <a:ext cx="292608" cy="292608"/>
          </a:xfrm>
          <a:prstGeom prst="rect">
            <a:avLst/>
          </a:prstGeom>
          <a:solidFill>
            <a:srgbClr val="FFFFFF"/>
          </a:solidFill>
          <a:ln w="25400">
            <a:solidFill>
              <a:srgbClr val="299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bIns="0" rIns="0"/>
          <a:lstStyle/>
          <a:p>
            <a:pPr algn="ctr"/>
            <a:r>
              <a:rPr sz="1600" b="1">
                <a:solidFill>
                  <a:srgbClr val="299D4E"/>
                </a:solidFill>
                <a:latin typeface="Helvetic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222222"/>
                </a:solidFill>
                <a:latin typeface="Apple SD Gothic Neo"/>
              </a:rPr>
              <a:t>메인 화면 캡쳐 / URL 노출 확인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2. 가맹점 하단 푸터정보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사업자번호 · 사업자명 · 대표자명 · 연락처 · 주소 노출 (통신판매업신고 예정)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300">
                <a:solidFill>
                  <a:srgbClr val="222222"/>
                </a:solidFill>
                <a:latin typeface="Menlo"/>
              </a:rPr>
              <a:t>🔒  https://saju-mbti-9h1.pages.dev/</a:t>
            </a:r>
          </a:p>
        </p:txBody>
      </p:sp>
      <p:pic>
        <p:nvPicPr>
          <p:cNvPr id="4" name="Picture 3" descr="02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6" y="1874519"/>
            <a:ext cx="73152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6172200"/>
            <a:ext cx="292608" cy="292608"/>
          </a:xfrm>
          <a:prstGeom prst="rect">
            <a:avLst/>
          </a:prstGeom>
          <a:solidFill>
            <a:srgbClr val="FFFFFF"/>
          </a:solidFill>
          <a:ln w="25400">
            <a:solidFill>
              <a:srgbClr val="299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bIns="0" rIns="0"/>
          <a:lstStyle/>
          <a:p>
            <a:pPr algn="ctr"/>
            <a:r>
              <a:rPr sz="1600" b="1">
                <a:solidFill>
                  <a:srgbClr val="299D4E"/>
                </a:solidFill>
                <a:latin typeface="Helvetic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5391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222222"/>
                </a:solidFill>
                <a:latin typeface="Apple SD Gothic Neo"/>
              </a:rPr>
              <a:t>사업자번호 740-13-02692 · 사업자명 강림 · 대표자 김강민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92240"/>
            <a:ext cx="292608" cy="292608"/>
          </a:xfrm>
          <a:prstGeom prst="rect">
            <a:avLst/>
          </a:prstGeom>
          <a:solidFill>
            <a:srgbClr val="FFFFFF"/>
          </a:solidFill>
          <a:ln w="25400">
            <a:solidFill>
              <a:srgbClr val="299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bIns="0" rIns="0"/>
          <a:lstStyle/>
          <a:p>
            <a:pPr algn="ctr"/>
            <a:r>
              <a:rPr sz="1600" b="1">
                <a:solidFill>
                  <a:srgbClr val="299D4E"/>
                </a:solidFill>
                <a:latin typeface="Helvetica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739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222222"/>
                </a:solidFill>
                <a:latin typeface="Apple SD Gothic Neo"/>
              </a:rPr>
              <a:t>연락처 010-9487-4593 · 주소(대전광역시 유성구…) · 이메일 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3. 로그인 페이지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비회원 구매 가능 — 로그인 페이지 없음 (가이드상 생략 가능 항목)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22222"/>
                </a:solidFill>
                <a:latin typeface="Apple SD Gothic Neo"/>
              </a:rPr>
              <a:t>본 서비스는 회원 가입 없이 사주 정보 입력만으로 결제가 가능한 비회원 구매 구조입니다.</a:t>
            </a:r>
          </a:p>
          <a:p>
            <a:r>
              <a:rPr sz="1500">
                <a:solidFill>
                  <a:srgbClr val="222222"/>
                </a:solidFill>
                <a:latin typeface="Apple SD Gothic Neo"/>
              </a:rPr>
              <a:t>가맹점 심사 가이드 「3. 로그인 페이지 — 비회원 구매가 가능한 경우 해당 페이지는 생략 가능」에 따라 본 항목은 해당사항 없음으로 갈음합니다.</a:t>
            </a:r>
          </a:p>
          <a:p>
            <a:r>
              <a:rPr sz="1500">
                <a:solidFill>
                  <a:srgbClr val="222222"/>
                </a:solidFill>
                <a:latin typeface="Apple SD Gothic Neo"/>
              </a:rPr>
              <a:t/>
            </a:r>
          </a:p>
          <a:p>
            <a:r>
              <a:rPr sz="1500">
                <a:solidFill>
                  <a:srgbClr val="555555"/>
                </a:solidFill>
                <a:latin typeface="Apple SD Gothic Neo"/>
              </a:rPr>
              <a:t>ㆍ가입/탈퇴/로그인 절차 없음</a:t>
            </a:r>
          </a:p>
          <a:p>
            <a:r>
              <a:rPr sz="1500">
                <a:solidFill>
                  <a:srgbClr val="555555"/>
                </a:solidFill>
                <a:latin typeface="Apple SD Gothic Neo"/>
              </a:rPr>
              <a:t>ㆍ개인정보(생년월일·MBTI 등)는 결제 시점에 한해 브라우저에서만 처리, 서버 미저장</a:t>
            </a:r>
          </a:p>
          <a:p>
            <a:r>
              <a:rPr sz="1500">
                <a:solidFill>
                  <a:srgbClr val="555555"/>
                </a:solidFill>
                <a:latin typeface="Apple SD Gothic Neo"/>
              </a:rPr>
              <a:t>ㆍ결제 정보는 토스페이먼츠 표준 결제창이 직접 처리 (카드번호 등 회사 미저장)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4. 주요 판매상품 페이지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단건(회원제) 결제 · 상품 4개 · 모두 5만원 미만 · 상품명·가격·결제버튼 활성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300">
                <a:solidFill>
                  <a:srgbClr val="222222"/>
                </a:solidFill>
                <a:latin typeface="Menlo"/>
              </a:rPr>
              <a:t>🔒  https://saju-mbti-9h1.pages.dev/</a:t>
            </a:r>
          </a:p>
        </p:txBody>
      </p:sp>
      <p:pic>
        <p:nvPicPr>
          <p:cNvPr id="4" name="Picture 3" descr="04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624" y="1874519"/>
            <a:ext cx="326170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22222"/>
                </a:solidFill>
                <a:latin typeface="Apple SD Gothic Neo"/>
              </a:rPr>
              <a:t>ㆍ지정일 운세 9,900원 · 월별 운세 19,900원 · 신년 운세 29,900원 · 인생 총운 49,900원</a:t>
            </a:r>
          </a:p>
          <a:p>
            <a:r>
              <a:rPr sz="1100">
                <a:solidFill>
                  <a:srgbClr val="222222"/>
                </a:solidFill>
                <a:latin typeface="Apple SD Gothic Neo"/>
              </a:rPr>
              <a:t>ㆍ모든 상품 500만원 미만 (카드사 고액상품 심사 제한 기준 부합)</a:t>
            </a:r>
          </a:p>
          <a:p>
            <a:r>
              <a:rPr sz="1100">
                <a:solidFill>
                  <a:srgbClr val="222222"/>
                </a:solidFill>
                <a:latin typeface="Apple SD Gothic Neo"/>
              </a:rPr>
              <a:t>ㆍ단건 결제 — 사주 풀이 디지털 콘텐츠 (소프트웨어형 서비스 제공)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92240"/>
            <a:ext cx="292608" cy="292608"/>
          </a:xfrm>
          <a:prstGeom prst="rect">
            <a:avLst/>
          </a:prstGeom>
          <a:solidFill>
            <a:srgbClr val="FFFFFF"/>
          </a:solidFill>
          <a:ln w="25400">
            <a:solidFill>
              <a:srgbClr val="299D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bIns="0" rIns="0"/>
          <a:lstStyle/>
          <a:p>
            <a:pPr algn="ctr"/>
            <a:r>
              <a:rPr sz="1600" b="1">
                <a:solidFill>
                  <a:srgbClr val="299D4E"/>
                </a:solidFill>
                <a:latin typeface="Helvetica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73952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222222"/>
                </a:solidFill>
                <a:latin typeface="Apple SD Gothic Neo"/>
              </a:rPr>
              <a:t>활성화된 판매상품 4개 · 상품명·가격 노출 · 결제 진입 버튼 활성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4-1. 판매상품 상세설명 페이지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예시: 인생 총운 — 상품명·가격·제공 풀이 항목 노출 + 결제 버튼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300">
                <a:solidFill>
                  <a:srgbClr val="222222"/>
                </a:solidFill>
                <a:latin typeface="Menlo"/>
              </a:rPr>
              <a:t>🔒  https://saju-mbti-9h1.pages.dev/</a:t>
            </a:r>
          </a:p>
        </p:txBody>
      </p:sp>
      <p:pic>
        <p:nvPicPr>
          <p:cNvPr id="4" name="Picture 3" descr="05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263" y="1874519"/>
            <a:ext cx="2236426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20116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A1F2C"/>
                </a:solidFill>
                <a:latin typeface="Apple SD Gothic Neo"/>
              </a:rPr>
              <a:t>● 상품명  </a:t>
            </a:r>
            <a:r>
              <a:rPr sz="1400">
                <a:solidFill>
                  <a:srgbClr val="222222"/>
                </a:solidFill>
                <a:latin typeface="Apple SD Gothic Neo"/>
              </a:rPr>
              <a:t>인생 총운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F2C"/>
                </a:solidFill>
                <a:latin typeface="Apple SD Gothic Neo"/>
              </a:rPr>
              <a:t>● 판매가격  </a:t>
            </a:r>
            <a:r>
              <a:rPr sz="1400">
                <a:solidFill>
                  <a:srgbClr val="222222"/>
                </a:solidFill>
                <a:latin typeface="Apple SD Gothic Neo"/>
              </a:rPr>
              <a:t>49,900원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F2C"/>
                </a:solidFill>
                <a:latin typeface="Apple SD Gothic Neo"/>
              </a:rPr>
              <a:t>● 제공 내용  </a:t>
            </a:r>
            <a:r>
              <a:rPr sz="1400">
                <a:solidFill>
                  <a:srgbClr val="222222"/>
                </a:solidFill>
                <a:latin typeface="Apple SD Gothic Neo"/>
              </a:rPr>
              <a:t>사주팔자 종합 풀이 / 직장·사업·재물·연애·결혼·건강·학업·인간관계 / 신살 / 대운(10년)별 시기별 풀이 / 카테고리당 본문 4~6문단의 깊이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F2C"/>
                </a:solidFill>
                <a:latin typeface="Apple SD Gothic Neo"/>
              </a:rPr>
              <a:t>● 결제 진입  </a:t>
            </a:r>
            <a:r>
              <a:rPr sz="1400">
                <a:solidFill>
                  <a:srgbClr val="222222"/>
                </a:solidFill>
                <a:latin typeface="Apple SD Gothic Neo"/>
              </a:rPr>
              <a:t>카카오페이 · 네이버페이 두 가지 간편결제 버튼 노출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A1F2C"/>
                </a:solidFill>
                <a:latin typeface="Apple SD Gothic Neo"/>
              </a:rPr>
              <a:t>● 환불 안내  </a:t>
            </a:r>
            <a:r>
              <a:rPr sz="1400">
                <a:solidFill>
                  <a:srgbClr val="222222"/>
                </a:solidFill>
                <a:latin typeface="Apple SD Gothic Neo"/>
              </a:rPr>
              <a:t>결제 즉시 디지털 콘텐츠 제공 → 청약 철회 제한 (전자상거래법 17조2항5호)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5. 일반 PG 결제화면 (카카오페이 단독 예정)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결제 동의 모달 — 약관·환불정책·청약철회 제한 동의 4종 + 카카오페이 결제 진입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80160"/>
            <a:ext cx="11247120" cy="457200"/>
          </a:xfrm>
          <a:prstGeom prst="roundRect">
            <a:avLst/>
          </a:prstGeom>
          <a:solidFill>
            <a:srgbClr val="F5F5F5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300">
                <a:solidFill>
                  <a:srgbClr val="222222"/>
                </a:solidFill>
                <a:latin typeface="Menlo"/>
              </a:rPr>
              <a:t>🔒  https://saju-mbti-9h1.pages.dev/</a:t>
            </a:r>
          </a:p>
        </p:txBody>
      </p:sp>
      <p:pic>
        <p:nvPicPr>
          <p:cNvPr id="4" name="Picture 3" descr="06_payment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294105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922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55555"/>
                </a:solidFill>
                <a:latin typeface="Apple SD Gothic Neo"/>
              </a:rPr>
              <a:t>[1단계] 결제 동의 — 약관·환불·청약철회 사전 안내</a:t>
            </a:r>
          </a:p>
        </p:txBody>
      </p:sp>
      <p:pic>
        <p:nvPicPr>
          <p:cNvPr id="6" name="Picture 5" descr="06_payment_rea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74519"/>
            <a:ext cx="2941052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492239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55555"/>
                </a:solidFill>
                <a:latin typeface="Apple SD Gothic Neo"/>
              </a:rPr>
              <a:t>[2단계] 4종 동의 완료 → 「카카오페이로 결제하기」 버튼 활성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22222"/>
                </a:solidFill>
                <a:latin typeface="Apple SD Gothic Neo"/>
              </a:rPr>
              <a:t>ㆍ「카카오페이로 결제하기」 버튼 클릭 시 토스페이먼츠 SDK가 카카오페이 결제창 호출 (운영 키 등록 후 실 결제 활성)</a:t>
            </a:r>
          </a:p>
          <a:p>
            <a:r>
              <a:rPr sz="1100">
                <a:solidFill>
                  <a:srgbClr val="222222"/>
                </a:solidFill>
                <a:latin typeface="Apple SD Gothic Neo"/>
              </a:rPr>
              <a:t>ㆍ카드번호 등 결제 정보는 회사가 수집/보관하지 않으며, 토스페이먼츠가 직접 처리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F2C"/>
                </a:solidFill>
                <a:latin typeface="Apple SD Gothic Neo"/>
              </a:rPr>
              <a:t>6 ~ 7. 정기 결제 페이지</a:t>
            </a:r>
          </a:p>
          <a:p>
            <a:r>
              <a:rPr sz="1400">
                <a:solidFill>
                  <a:srgbClr val="555555"/>
                </a:solidFill>
                <a:latin typeface="Apple SD Gothic Neo"/>
              </a:rPr>
              <a:t>본 서비스는 단건(회원제) 결제만 운영 — 정기·구독 결제 없음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22222"/>
                </a:solidFill>
                <a:latin typeface="Apple SD Gothic Neo"/>
              </a:rPr>
              <a:t>본 서비스는 카테고리별 단건 결제(소프트웨어형 디지털 콘텐츠 판매)만 제공하며,</a:t>
            </a:r>
          </a:p>
          <a:p>
            <a:r>
              <a:rPr sz="1500">
                <a:solidFill>
                  <a:srgbClr val="222222"/>
                </a:solidFill>
                <a:latin typeface="Apple SD Gothic Neo"/>
              </a:rPr>
              <a:t>정기 결제(구독·자동결제)는 운영하지 않습니다.</a:t>
            </a:r>
          </a:p>
          <a:p>
            <a:r>
              <a:rPr sz="1500">
                <a:solidFill>
                  <a:srgbClr val="222222"/>
                </a:solidFill>
                <a:latin typeface="Apple SD Gothic Neo"/>
              </a:rPr>
              <a:t/>
            </a:r>
          </a:p>
          <a:p>
            <a:r>
              <a:rPr sz="1500">
                <a:solidFill>
                  <a:srgbClr val="555555"/>
                </a:solidFill>
                <a:latin typeface="Apple SD Gothic Neo"/>
              </a:rPr>
              <a:t>ㆍ대표 결제 형태 — 단건 결제 (4번 항목 참조)</a:t>
            </a:r>
          </a:p>
          <a:p>
            <a:r>
              <a:rPr sz="1500">
                <a:solidFill>
                  <a:srgbClr val="555555"/>
                </a:solidFill>
                <a:latin typeface="Apple SD Gothic Neo"/>
              </a:rPr>
              <a:t>ㆍ정기 결제 — 해당사항 없음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